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2F63E8"/>
                </a:solidFill>
                <a:latin typeface="IBM Plex Mono"/>
              </a:rPr>
              <a:t>SQL FOUNDATIONS · DAY 1 OF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77295" cy="1188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141414"/>
                </a:solidFill>
                <a:latin typeface="Bricolage Grotesque"/>
              </a:rPr>
              <a:t>SQL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900" b="0" i="0">
                <a:solidFill>
                  <a:srgbClr val="6B6B6B"/>
                </a:solidFill>
                <a:latin typeface="Nunito Sans"/>
              </a:rPr>
              <a:t>What SQL is, why it matters, and your first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834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  <a:latin typeface="Nunito Sans"/>
              </a:rPr>
              <a:t>Concepts + world database · self-paced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DAY 01 ·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What we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From "what is a database" to your first SELECT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286000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286000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What is SQL?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286000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A language for talking to databases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761488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761488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61488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What is a Database?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761488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Storage, retrieval, manipulation, security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236976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236976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36976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Types of Databases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36976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Relational (SQL) vs. non-relational (NoSQL)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712464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3712464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12464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Database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712464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Entities, attributes, and relationships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187952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4187952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87952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CRUD &amp; SQL Statement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187952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Create/Read/Update/Delete, DML/DDL/DCL/TCL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4663440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4663440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663440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SQL for Data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663440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Why this skill matters, with a real example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138928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5138928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138928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MySQL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138928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What it is, who uses it, installing it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614416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5614416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614416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Hands-On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614416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SELECT, LIMIT/OFFSET, DISTINCT, COUNT, ORDER BY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6089904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CONCEPTS · WHAT IS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What is SQL?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Structured Query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1" i="0">
                <a:solidFill>
                  <a:srgbClr val="141414"/>
                </a:solidFill>
                <a:latin typeface="Nunito Sans"/>
              </a:rPr>
              <a:t>The language of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Just like English or French lets you talk to a person, SQL lets you talk to a database — ask it questions, and tell it what to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30168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6732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1" i="0">
                <a:solidFill>
                  <a:srgbClr val="141414"/>
                </a:solidFill>
                <a:latin typeface="Nunito Sans"/>
              </a:rPr>
              <a:t>A tool for relational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Purpose-built for managing and manipulating data stored in relational databases — tables with rows and columns.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91456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8616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1" i="0">
                <a:solidFill>
                  <a:srgbClr val="141414"/>
                </a:solidFill>
                <a:latin typeface="Nunito Sans"/>
              </a:rPr>
              <a:t>Decades old, still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2180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First developed by IBM in the 1970s. Still the industry-standard way to work with relational data today.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CONCEPTS · WHAT IS A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What is a database?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A structured collection of data, organized for efficient retrieval — managed by a DBMS (Database Management System), the software that sits between the database and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4329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615184"/>
            <a:ext cx="4920843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141414"/>
                </a:solidFill>
                <a:latin typeface="Nunito Sans"/>
              </a:rPr>
              <a:t>Data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980944"/>
            <a:ext cx="4920843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Stores data persistently on disk or in memory — durable and available even after a system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468880"/>
            <a:ext cx="54329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6179" y="2615184"/>
            <a:ext cx="4920843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141414"/>
                </a:solidFill>
                <a:latin typeface="Nunito Sans"/>
              </a:rPr>
              <a:t>Data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6179" y="2980944"/>
            <a:ext cx="4920843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Lets you pull data back out efficiently: filtering, sorting, and aggregating to get exactly what you need.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4329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078224"/>
            <a:ext cx="4920843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141414"/>
                </a:solidFill>
                <a:latin typeface="Nunito Sans"/>
              </a:rPr>
              <a:t>Data Manipulation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4"/>
            <a:ext cx="4920843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Lets you modify data as needed — insert new records, update existing ones, delete what's unwanted.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931920"/>
            <a:ext cx="54329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6179" y="4078224"/>
            <a:ext cx="4920843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141414"/>
                </a:solidFill>
                <a:latin typeface="Nunito Sans"/>
              </a:rPr>
              <a:t>Data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6179" y="4443984"/>
            <a:ext cx="4920843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Enforces access control — authentication, authorization, and encryption to keep data safe and private.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CONCEPTS · TYPES OF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Relational vs. non-relational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521208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2432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1" i="0">
                <a:solidFill>
                  <a:srgbClr val="141414"/>
                </a:solidFill>
                <a:latin typeface="Nunito Sans"/>
              </a:rPr>
              <a:t>Relational (RDBMS)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108960"/>
            <a:ext cx="1432560" cy="365760"/>
          </a:xfrm>
          <a:prstGeom prst="rect">
            <a:avLst/>
          </a:prstGeom>
          <a:solidFill>
            <a:srgbClr val="2F63E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38400" y="3108960"/>
            <a:ext cx="1432560" cy="365760"/>
          </a:xfrm>
          <a:prstGeom prst="rect">
            <a:avLst/>
          </a:prstGeom>
          <a:solidFill>
            <a:srgbClr val="2F63E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70960" y="3108960"/>
            <a:ext cx="1432560" cy="365760"/>
          </a:xfrm>
          <a:prstGeom prst="rect">
            <a:avLst/>
          </a:prstGeom>
          <a:solidFill>
            <a:srgbClr val="2F63E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3474720"/>
            <a:ext cx="1432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900" b="0" i="0">
                <a:solidFill>
                  <a:srgbClr val="9CA3AF"/>
                </a:solidFill>
                <a:latin typeface="IBM Plex Mono"/>
              </a:rPr>
              <a:t>——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38400" y="3474720"/>
            <a:ext cx="1432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900" b="0" i="0">
                <a:solidFill>
                  <a:srgbClr val="9CA3AF"/>
                </a:solidFill>
                <a:latin typeface="IBM Plex Mono"/>
              </a:rPr>
              <a:t>••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70960" y="3474720"/>
            <a:ext cx="1432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900" b="0" i="0">
                <a:solidFill>
                  <a:srgbClr val="9CA3AF"/>
                </a:solidFill>
                <a:latin typeface="IBM Plex Mono"/>
              </a:rPr>
              <a:t>——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840480"/>
            <a:ext cx="1432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900" b="0" i="0">
                <a:solidFill>
                  <a:srgbClr val="9CA3AF"/>
                </a:solidFill>
                <a:latin typeface="IBM Plex Mono"/>
              </a:rPr>
              <a:t>•••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8400" y="3840480"/>
            <a:ext cx="1432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900" b="0" i="0">
                <a:solidFill>
                  <a:srgbClr val="9CA3AF"/>
                </a:solidFill>
                <a:latin typeface="IBM Plex Mono"/>
              </a:rPr>
              <a:t>———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70960" y="3840480"/>
            <a:ext cx="1432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900" b="0" i="0">
                <a:solidFill>
                  <a:srgbClr val="9CA3AF"/>
                </a:solidFill>
                <a:latin typeface="IBM Plex Mono"/>
              </a:rPr>
              <a:t>•••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206240"/>
            <a:ext cx="1432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900" b="0" i="0">
                <a:solidFill>
                  <a:srgbClr val="9CA3AF"/>
                </a:solidFill>
                <a:latin typeface="IBM Plex Mono"/>
              </a:rPr>
              <a:t>——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8400" y="4206240"/>
            <a:ext cx="1432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900" b="0" i="0">
                <a:solidFill>
                  <a:srgbClr val="9CA3AF"/>
                </a:solidFill>
                <a:latin typeface="IBM Plex Mono"/>
              </a:rPr>
              <a:t>••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70960" y="4206240"/>
            <a:ext cx="1432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900" b="0" i="0">
                <a:solidFill>
                  <a:srgbClr val="9CA3AF"/>
                </a:solidFill>
                <a:latin typeface="IBM Plex Mono"/>
              </a:rPr>
              <a:t>——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Organizes data into tables of rows and columns, with relationships between them. Queried with SQL — what this course uses.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 b="1" i="0">
                <a:solidFill>
                  <a:srgbClr val="2F63E8"/>
                </a:solidFill>
                <a:latin typeface="IBM Plex Mono"/>
              </a:rPr>
              <a:t>EXAMPLES  </a:t>
            </a:r>
            <a:r>
              <a:rPr sz="1250" b="0" i="0">
                <a:solidFill>
                  <a:srgbClr val="141414"/>
                </a:solidFill>
                <a:latin typeface="Nunito Sans"/>
              </a:rPr>
              <a:t>MySQL, PostgreSQL, SQL 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423160"/>
            <a:ext cx="521208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62432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1" i="0">
                <a:solidFill>
                  <a:srgbClr val="141414"/>
                </a:solidFill>
                <a:latin typeface="Nunito Sans"/>
              </a:rPr>
              <a:t>Non-relational (NoSQL)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3108960"/>
            <a:ext cx="31089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3255264"/>
            <a:ext cx="2706624" cy="11887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150" b="0" i="0">
                <a:solidFill>
                  <a:srgbClr val="DCDCAA"/>
                </a:solidFill>
                <a:latin typeface="IBM Plex Mono"/>
              </a:rPr>
              <a:t>{</a:t>
            </a:r>
          </a:p>
          <a:p>
            <a:r>
              <a:rPr sz="1150" b="0" i="0">
                <a:solidFill>
                  <a:srgbClr val="CE9178"/>
                </a:solidFill>
                <a:latin typeface="IBM Plex Mono"/>
              </a:rPr>
              <a:t>  "id": 101,</a:t>
            </a:r>
          </a:p>
          <a:p>
            <a:r>
              <a:rPr sz="1150" b="0" i="0">
                <a:solidFill>
                  <a:srgbClr val="CE9178"/>
                </a:solidFill>
                <a:latin typeface="IBM Plex Mono"/>
              </a:rPr>
              <a:t>  "tags": [..],</a:t>
            </a:r>
          </a:p>
          <a:p>
            <a:r>
              <a:rPr sz="1150" b="0" i="0">
                <a:solidFill>
                  <a:srgbClr val="CE9178"/>
                </a:solidFill>
                <a:latin typeface="IBM Plex Mono"/>
              </a:rPr>
              <a:t>  "meta": {..}</a:t>
            </a:r>
          </a:p>
          <a:p>
            <a:r>
              <a:rPr sz="1150" b="0" i="0">
                <a:solidFill>
                  <a:srgbClr val="DCDCAA"/>
                </a:solidFill>
                <a:latin typeface="IBM Plex Mono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75488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Stores data as key-value pairs, documents, or graphs — built for large volumes of unstructured or semi-structured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715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50" b="1" i="0">
                <a:solidFill>
                  <a:srgbClr val="2F63E8"/>
                </a:solidFill>
                <a:latin typeface="IBM Plex Mono"/>
              </a:rPr>
              <a:t>EXAMPLES  </a:t>
            </a:r>
            <a:r>
              <a:rPr sz="1250" b="0" i="0">
                <a:solidFill>
                  <a:srgbClr val="141414"/>
                </a:solidFill>
                <a:latin typeface="Nunito Sans"/>
              </a:rPr>
              <a:t>MongoDB, Cassandra, 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CONCEPTS ·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Entities, attributes,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An order belongs to a customer, and a customer can place many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3611880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361188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3611880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5480" y="361188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Order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3931920"/>
            <a:ext cx="2011680" cy="0"/>
          </a:xfrm>
          <a:prstGeom prst="line">
            <a:avLst/>
          </a:prstGeom>
          <a:ln w="15875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98080" y="3931920"/>
            <a:ext cx="2011680" cy="0"/>
          </a:xfrm>
          <a:prstGeom prst="line">
            <a:avLst/>
          </a:prstGeom>
          <a:ln w="15875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5943600" y="3497580"/>
            <a:ext cx="1554480" cy="868680"/>
          </a:xfrm>
          <a:prstGeom prst="diamond">
            <a:avLst/>
          </a:prstGeom>
          <a:solidFill>
            <a:srgbClr val="F3F4F6"/>
          </a:solidFill>
          <a:ln w="15875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41414"/>
                </a:solidFill>
                <a:latin typeface="Nunito Sans"/>
              </a:rPr>
              <a:t>places</a:t>
            </a:r>
          </a:p>
        </p:txBody>
      </p:sp>
      <p:sp>
        <p:nvSpPr>
          <p:cNvPr id="13" name="Oval 12"/>
          <p:cNvSpPr/>
          <p:nvPr/>
        </p:nvSpPr>
        <p:spPr>
          <a:xfrm>
            <a:off x="1714500" y="2217420"/>
            <a:ext cx="11887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00" b="0" i="0">
                <a:solidFill>
                  <a:srgbClr val="141414"/>
                </a:solidFill>
                <a:latin typeface="Nunito Sans"/>
              </a:rPr>
              <a:t>name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308860" y="2720340"/>
            <a:ext cx="708660" cy="89154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131820" y="2217420"/>
            <a:ext cx="11887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00" b="0" i="0">
                <a:solidFill>
                  <a:srgbClr val="141414"/>
                </a:solidFill>
                <a:latin typeface="Nunito Sans"/>
              </a:rPr>
              <a:t>email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017520" y="2720340"/>
            <a:ext cx="708660" cy="89154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121140" y="2217420"/>
            <a:ext cx="11887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00" b="0" i="0">
                <a:solidFill>
                  <a:srgbClr val="141414"/>
                </a:solidFill>
                <a:latin typeface="Nunito Sans"/>
              </a:rPr>
              <a:t>date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9715500" y="2720340"/>
            <a:ext cx="708660" cy="89154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38460" y="2217420"/>
            <a:ext cx="11887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1100" b="0" i="0">
                <a:solidFill>
                  <a:srgbClr val="141414"/>
                </a:solidFill>
                <a:latin typeface="Nunito Sans"/>
              </a:rPr>
              <a:t>total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0424160" y="2720340"/>
            <a:ext cx="708660" cy="89154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0" y="5806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Nunito Sans"/>
              </a:rPr>
              <a:t>Rectangle = 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806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Nunito Sans"/>
              </a:rPr>
              <a:t>Oval = Attribute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806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Nunito Sans"/>
              </a:rPr>
              <a:t>Diamond = Relationship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CONCEPTS ·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Three types of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Established by a primary key (uniquely identifies a row) and a foreign key (references another table's primary key)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91840"/>
            <a:ext cx="123444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Country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291840"/>
            <a:ext cx="123444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329184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Capital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3566160"/>
            <a:ext cx="822960" cy="0"/>
          </a:xfrm>
          <a:prstGeom prst="line">
            <a:avLst/>
          </a:prstGeom>
          <a:ln w="19050">
            <a:solidFill>
              <a:srgbClr val="2F6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020824" y="3136392"/>
            <a:ext cx="310896" cy="310896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2331720" y="3136392"/>
            <a:ext cx="310896" cy="310896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B6B6B"/>
                </a:solidFill>
                <a:latin typeface="Nunito Sans"/>
              </a:rPr>
              <a:t>Every country has exactly one capital 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2F63E8"/>
                </a:solidFill>
                <a:latin typeface="IBM Plex Mono"/>
              </a:rPr>
              <a:t>1:1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291840"/>
            <a:ext cx="123444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29184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Mother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871216"/>
            <a:ext cx="91440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871216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Kid 1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760720" y="3063240"/>
            <a:ext cx="1143000" cy="502920"/>
          </a:xfrm>
          <a:prstGeom prst="line">
            <a:avLst/>
          </a:prstGeom>
          <a:ln w="1397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03720" y="3374136"/>
            <a:ext cx="91440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74136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Kid 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60720" y="3566160"/>
            <a:ext cx="1143000" cy="0"/>
          </a:xfrm>
          <a:prstGeom prst="line">
            <a:avLst/>
          </a:prstGeom>
          <a:ln w="1397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03720" y="3877056"/>
            <a:ext cx="91440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877056"/>
            <a:ext cx="82296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Kid 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60720" y="3566160"/>
            <a:ext cx="1143000" cy="502920"/>
          </a:xfrm>
          <a:prstGeom prst="line">
            <a:avLst/>
          </a:prstGeom>
          <a:ln w="1397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806440" y="3136392"/>
            <a:ext cx="310896" cy="310896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6547104" y="3136392"/>
            <a:ext cx="310896" cy="310896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4348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B6B6B"/>
                </a:solidFill>
                <a:latin typeface="Nunito Sans"/>
              </a:rPr>
              <a:t>A mother can have many kids, but every child belongs to exactly one mother.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331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2F63E8"/>
                </a:solidFill>
                <a:latin typeface="IBM Plex Mono"/>
              </a:rPr>
              <a:t>1:N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3008376"/>
            <a:ext cx="12344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008376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Book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3739896"/>
            <a:ext cx="12344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739896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Book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24160" y="3008376"/>
            <a:ext cx="12344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69880" y="3008376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Author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3739896"/>
            <a:ext cx="1234440" cy="38404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69880" y="3739896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Author 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01200" y="3200400"/>
            <a:ext cx="822960" cy="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01200" y="3200400"/>
            <a:ext cx="822960" cy="73152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601200" y="3200400"/>
            <a:ext cx="822960" cy="73152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01200" y="3931920"/>
            <a:ext cx="822960" cy="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646920" y="2843784"/>
            <a:ext cx="310896" cy="310896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N</a:t>
            </a:r>
          </a:p>
        </p:txBody>
      </p:sp>
      <p:sp>
        <p:nvSpPr>
          <p:cNvPr id="43" name="Oval 42"/>
          <p:cNvSpPr/>
          <p:nvPr/>
        </p:nvSpPr>
        <p:spPr>
          <a:xfrm>
            <a:off x="10067544" y="2843784"/>
            <a:ext cx="310896" cy="310896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4348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6B6B6B"/>
                </a:solidFill>
                <a:latin typeface="Nunito Sans"/>
              </a:rPr>
              <a:t>A book can have multiple authors, and an author can write multiple books.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331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2F63E8"/>
                </a:solidFill>
                <a:latin typeface="IBM Plex Mono"/>
              </a:rPr>
              <a:t>N:N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CONCEPTS ·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CRUD — the foundation of working with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The four operations underlying any database-backed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4329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615184"/>
            <a:ext cx="4920843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500" b="1" i="0">
                <a:solidFill>
                  <a:srgbClr val="2F63E8"/>
                </a:solidFill>
                <a:latin typeface="IBM Plex Mono"/>
              </a:rPr>
              <a:t>01  </a:t>
            </a:r>
            <a:r>
              <a:rPr sz="1700" b="1" i="0">
                <a:solidFill>
                  <a:srgbClr val="141414"/>
                </a:solidFill>
                <a:latin typeface="Nunito Sans"/>
              </a:rP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980944"/>
            <a:ext cx="4920843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Create a database or table; insert a new record or column.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468880"/>
            <a:ext cx="54329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6179" y="2615184"/>
            <a:ext cx="4920843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500" b="1" i="0">
                <a:solidFill>
                  <a:srgbClr val="2F63E8"/>
                </a:solidFill>
                <a:latin typeface="IBM Plex Mono"/>
              </a:rPr>
              <a:t>02  </a:t>
            </a:r>
            <a:r>
              <a:rPr sz="1700" b="1" i="0">
                <a:solidFill>
                  <a:srgbClr val="141414"/>
                </a:solidFill>
                <a:latin typeface="Nunito Sans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6179" y="2980944"/>
            <a:ext cx="4920843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Select existing record(s) — the operation this whole lesson focuses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4329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078224"/>
            <a:ext cx="4920843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500" b="1" i="0">
                <a:solidFill>
                  <a:srgbClr val="2F63E8"/>
                </a:solidFill>
                <a:latin typeface="IBM Plex Mono"/>
              </a:rPr>
              <a:t>03  </a:t>
            </a:r>
            <a:r>
              <a:rPr sz="1700" b="1" i="0">
                <a:solidFill>
                  <a:srgbClr val="141414"/>
                </a:solidFill>
                <a:latin typeface="Nunito Sans"/>
              </a:rPr>
              <a:t>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4"/>
            <a:ext cx="4920843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Modify an existing table's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931920"/>
            <a:ext cx="54329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6179" y="4078224"/>
            <a:ext cx="4920843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500" b="1" i="0">
                <a:solidFill>
                  <a:srgbClr val="2F63E8"/>
                </a:solidFill>
                <a:latin typeface="IBM Plex Mono"/>
              </a:rPr>
              <a:t>04  </a:t>
            </a:r>
            <a:r>
              <a:rPr sz="1700" b="1" i="0">
                <a:solidFill>
                  <a:srgbClr val="141414"/>
                </a:solidFill>
                <a:latin typeface="Nunito Sans"/>
              </a:rPr>
              <a:t>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6179" y="4443984"/>
            <a:ext cx="4920843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Remove a record, column, table, or database.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CONCEPTS · SQL STATEMENT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The four categories of SQL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Every SQL statement you'll ever write falls into one of these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4329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615184"/>
            <a:ext cx="4920843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141414"/>
                </a:solidFill>
                <a:latin typeface="Nunito Sans"/>
              </a:rPr>
              <a:t>DML — Data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980944"/>
            <a:ext cx="4920843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Day-to-day work with data: SELECT, INSERT, UPDATE, DELETE. This course lives almost entirely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468880"/>
            <a:ext cx="54329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6179" y="2615184"/>
            <a:ext cx="4920843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141414"/>
                </a:solidFill>
                <a:latin typeface="Nunito Sans"/>
              </a:rPr>
              <a:t>DDL — Data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6179" y="2980944"/>
            <a:ext cx="4920843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Defines structure: CREATE, ALTER, DROP — building and changing tables and databases.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4329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078224"/>
            <a:ext cx="4920843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141414"/>
                </a:solidFill>
                <a:latin typeface="Nunito Sans"/>
              </a:rPr>
              <a:t>DCL — Data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4"/>
            <a:ext cx="4920843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Controls access: GRANT, REVOKE — who's allowed to do what.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931920"/>
            <a:ext cx="5432907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6179" y="4078224"/>
            <a:ext cx="4920843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1" i="0">
                <a:solidFill>
                  <a:srgbClr val="141414"/>
                </a:solidFill>
                <a:latin typeface="Nunito Sans"/>
              </a:rPr>
              <a:t>TCL — Transaction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6179" y="4443984"/>
            <a:ext cx="4920843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Controls transactions: COMMIT, ROLLBACK — making a set of changes permanent or undoing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CONCEPTS · WHY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SQL for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You manage a bookstore. Which books sold the most this month?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motivating_example.sql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title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SUM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quantity_sold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total_sold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GROUP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title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ORDER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total_sold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DESC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Don't worry about every keyword yet —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GROUP BY is Day 02. The point: a few lines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of SQL beat sifting through data by hand.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No manual digging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One query answers it instead of scrolling through every sale by hand.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Scales to real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Top-sellers, revenue trends, average order value, new customers — same idea every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581142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A core analyst 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901182"/>
            <a:ext cx="37764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This is how you turn raw data into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CONCEPTS · 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The relational database this whole course runs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1" i="0">
                <a:solidFill>
                  <a:srgbClr val="141414"/>
                </a:solidFill>
                <a:latin typeface="Nunito Sans"/>
              </a:rPr>
              <a:t>Free &amp; open-source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A widely-used relational database management system (RDBMS) — no license cost to get started.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30168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6732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1" i="0">
                <a:solidFill>
                  <a:srgbClr val="141414"/>
                </a:solidFill>
                <a:latin typeface="Nunito Sans"/>
              </a:rPr>
              <a:t>Scales from small to large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Fine for a student project, and powers huge production systems too.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91456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861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1" i="0">
                <a:solidFill>
                  <a:srgbClr val="141414"/>
                </a:solidFill>
                <a:latin typeface="Nunito Sans"/>
              </a:rPr>
              <a:t>Who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2180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Facebook, Twitter, Airbnb, Booking.com, Uber, GitHub, YouTube, and CMS platforms like WordPress and Drupal.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2472" y="2468880"/>
            <a:ext cx="5577840" cy="3282696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7432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INSTALLING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200400"/>
            <a:ext cx="4937760" cy="22768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400"/>
              </a:spcAft>
            </a:pPr>
            <a:r>
              <a:rPr sz="1550" b="0" i="0">
                <a:solidFill>
                  <a:srgbClr val="141414"/>
                </a:solidFill>
                <a:latin typeface="Nunito Sans"/>
              </a:rPr>
              <a:t>Windows installer: dev.mysql.com/downloads/installer</a:t>
            </a:r>
          </a:p>
          <a:p>
            <a:pPr>
              <a:spcAft>
                <a:spcPts val="1400"/>
              </a:spcAft>
            </a:pPr>
            <a:r>
              <a:rPr sz="1550" b="0" i="0">
                <a:solidFill>
                  <a:srgbClr val="141414"/>
                </a:solidFill>
                <a:latin typeface="Nunito Sans"/>
              </a:rPr>
              <a:t>Workbench setup guide: simplilearn.com — search "MySQL Workbench installation"</a:t>
            </a:r>
          </a:p>
          <a:p>
            <a:pPr>
              <a:spcAft>
                <a:spcPts val="1400"/>
              </a:spcAft>
            </a:pPr>
            <a:r>
              <a:rPr sz="1550" b="0" i="0">
                <a:solidFill>
                  <a:srgbClr val="141414"/>
                </a:solidFill>
                <a:latin typeface="Nunito Sans"/>
              </a:rPr>
              <a:t>Once installed, run world_db.sql to load this lesson's database.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HANDS-ON · 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The world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Everything from here on queries this database — run world_db.sql first, then USE world;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5433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653028"/>
            <a:ext cx="195681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country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927348"/>
            <a:ext cx="195681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IBM Plex Mono"/>
              </a:rPr>
              <a:t>Code · Name · Continent</a:t>
            </a:r>
          </a:p>
          <a:p>
            <a:pPr algn="ctr"/>
            <a:r>
              <a:rPr sz="950" b="0" i="0">
                <a:solidFill>
                  <a:srgbClr val="6B6B6B"/>
                </a:solidFill>
                <a:latin typeface="IBM Plex Mono"/>
              </a:rPr>
              <a:t>Region · Population · GNP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62890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273862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3012948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IBM Plex Mono"/>
              </a:rPr>
              <a:t>ID · Name · CountryCode</a:t>
            </a:r>
          </a:p>
          <a:p>
            <a:pPr algn="ctr"/>
            <a:r>
              <a:rPr sz="950" b="0" i="0">
                <a:solidFill>
                  <a:srgbClr val="6B6B6B"/>
                </a:solidFill>
                <a:latin typeface="IBM Plex Mono"/>
              </a:rPr>
              <a:t>District · Population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108960" y="3017520"/>
            <a:ext cx="4206240" cy="914400"/>
          </a:xfrm>
          <a:prstGeom prst="line">
            <a:avLst/>
          </a:prstGeom>
          <a:ln w="15875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291840" y="3630168"/>
            <a:ext cx="274320" cy="274320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2880360"/>
            <a:ext cx="274320" cy="274320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45770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456742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countrylanguage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4841748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IBM Plex Mono"/>
              </a:rPr>
              <a:t>CountryCode · Language</a:t>
            </a:r>
          </a:p>
          <a:p>
            <a:pPr algn="ctr"/>
            <a:r>
              <a:rPr sz="950" b="0" i="0">
                <a:solidFill>
                  <a:srgbClr val="6B6B6B"/>
                </a:solidFill>
                <a:latin typeface="IBM Plex Mono"/>
              </a:rPr>
              <a:t>IsOfficial · Percentage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08960" y="3931920"/>
            <a:ext cx="4206240" cy="914400"/>
          </a:xfrm>
          <a:prstGeom prst="line">
            <a:avLst/>
          </a:prstGeom>
          <a:ln w="15875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291840" y="3959352"/>
            <a:ext cx="274320" cy="274320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4709160"/>
            <a:ext cx="274320" cy="274320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12 / 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unito Sans"/>
              </a:rPr>
              <a:t>This lesson stays inside country — city and countrylanguage come in once JOINs are introduced on Day 03.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HANDS-ON · SELECT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Anatomy of a SELECT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Every query in this lesson follows the same skeleton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day01_sql_foundations.sql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Region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Continent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country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SELECT * means "give me every column"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country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Name columns explicitly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Clearer what the query returns, and it won't silently break if a column is added later.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SELECT 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Fine for a quick look, risky to leave in real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HANDS-ON · LIMIT &amp; OFFSET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Skip, then 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LIMIT 3 OFFSET 2 on an 8-row table — skip the first 2 rows, return the next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91840"/>
            <a:ext cx="777240" cy="50292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IBM Plex Mono"/>
              </a:rPr>
              <a:t>row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73352" y="3291840"/>
            <a:ext cx="777240" cy="50292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3352" y="32918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IBM Plex Mono"/>
              </a:rPr>
              <a:t>row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3744" y="3291840"/>
            <a:ext cx="777240" cy="502920"/>
          </a:xfrm>
          <a:prstGeom prst="roundRect">
            <a:avLst>
              <a:gd name="adj" fmla="val 15000"/>
            </a:avLst>
          </a:prstGeom>
          <a:solidFill>
            <a:srgbClr val="2F63E8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3744" y="32918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Mono"/>
              </a:rPr>
              <a:t>row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3291840"/>
            <a:ext cx="777240" cy="502920"/>
          </a:xfrm>
          <a:prstGeom prst="roundRect">
            <a:avLst>
              <a:gd name="adj" fmla="val 15000"/>
            </a:avLst>
          </a:prstGeom>
          <a:solidFill>
            <a:srgbClr val="2F63E8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4136" y="32918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Mono"/>
              </a:rPr>
              <a:t>row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3291840"/>
            <a:ext cx="777240" cy="502920"/>
          </a:xfrm>
          <a:prstGeom prst="roundRect">
            <a:avLst>
              <a:gd name="adj" fmla="val 15000"/>
            </a:avLst>
          </a:prstGeom>
          <a:solidFill>
            <a:srgbClr val="2F63E8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32918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BM Plex Mono"/>
              </a:rPr>
              <a:t>row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291840"/>
            <a:ext cx="7772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32918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IBM Plex Mono"/>
              </a:rPr>
              <a:t>row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3291840"/>
            <a:ext cx="7772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25312" y="32918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IBM Plex Mono"/>
              </a:rPr>
              <a:t>row 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75704" y="3291840"/>
            <a:ext cx="77724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75704" y="32918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IBM Plex Mono"/>
              </a:rPr>
              <a:t>row 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2971800"/>
            <a:ext cx="1627632" cy="0"/>
          </a:xfrm>
          <a:prstGeom prst="line">
            <a:avLst/>
          </a:prstGeom>
          <a:ln w="15875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2624328"/>
            <a:ext cx="1627632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Nunito Sans"/>
              </a:rPr>
              <a:t>OFFSET 2 — skipped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23744" y="2971800"/>
            <a:ext cx="2478024" cy="0"/>
          </a:xfrm>
          <a:prstGeom prst="line">
            <a:avLst/>
          </a:prstGeom>
          <a:ln w="22225">
            <a:solidFill>
              <a:srgbClr val="2F6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23744" y="2624328"/>
            <a:ext cx="2478024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F63E8"/>
                </a:solidFill>
                <a:latin typeface="Nunito Sans"/>
              </a:rPr>
              <a:t>LIMIT 3 — returned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HANDS-ON · LIMIT &amp; OFFSET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Capping and paging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Two ways to write the same thing in MySQL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day01_sql_foundations.sql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standard SQL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country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LIMIT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3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OFFSET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2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MySQL shortcut: LIMIT skip, count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country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LIMIT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2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3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Same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Both return 3 rows, after skipping the first 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Prefer OFFSET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The shortcut form is easy to misread — is the first number the skip or the count?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581142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Real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901182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This is exactly how "page 2 of results" works in an application.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HANDS-ON · DISTINCT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Unique values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Answers "what are the possible values?", not "what's the value per row?"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day01_sql_foundations.sql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DISTINCT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Region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country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No DISTINCT: one row PER COUNTRY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'Asia' repeated for every Asian country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Collapses duplicates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Down to one row per unique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28416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Combine with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648456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COUNT(DISTINCT Region) counts how many unique values exist — next section.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HANDS-ON ·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COUNT — your first aggregate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Many rows in, one number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day01_sql_foundations.sql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(*)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CNTRY_CNT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country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Code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no_of_countries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country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DISTINCT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Region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Regions_CNT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country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COUNT(*)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Counts every row, full stop.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28416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COUNT(col)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648456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Counts only non-NULL values — matters once a column can be missing.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361687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AS is optional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681727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COUNT(*) CNTRY_CNT works too — writing AS is just clearer.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HANDS-ON · ORDER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Sorting — and "top N"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ASC is the default direction, so it's rarely written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day01_sql_foundations.sql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Population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country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ORDER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ASC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LIMIT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5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Top 5 by population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Population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country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ORDER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Population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DESC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LIMIT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5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Sort by any column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Even one that isn't in your SELECT list.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28416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ORDER BY +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648456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Together, this is how you answer "top N" questions.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2F63E8"/>
                </a:solidFill>
                <a:latin typeface="IBM Plex Mono"/>
              </a:rPr>
              <a:t>NEXT: DAY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7295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4600" b="1" i="0">
                <a:solidFill>
                  <a:srgbClr val="141414"/>
                </a:solidFill>
                <a:latin typeface="Bricolage Grotesque"/>
              </a:rPr>
              <a:t>Filtering &amp;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43400"/>
            <a:ext cx="94484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Nunito Sans"/>
              </a:rPr>
              <a:t>WHERE conditions, GROUP BY, and DATE functions — on a new dataset, parch_and_posey.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