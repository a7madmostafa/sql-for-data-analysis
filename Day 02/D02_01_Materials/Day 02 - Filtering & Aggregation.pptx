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83464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2F63E8"/>
                </a:solidFill>
                <a:latin typeface="IBM Plex Mono"/>
              </a:rPr>
              <a:t>FILTERING &amp; AGGREGATION · DAY 2 OF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11277295" cy="11887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5400" b="1" i="0">
                <a:solidFill>
                  <a:srgbClr val="141414"/>
                </a:solidFill>
                <a:latin typeface="Bricolage Grotesque"/>
              </a:rPr>
              <a:t>Filtering &amp; Aggregation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900" b="0" i="0">
                <a:solidFill>
                  <a:srgbClr val="6B6B6B"/>
                </a:solidFill>
                <a:latin typeface="Nunito Sans"/>
              </a:rPr>
              <a:t>WHERE · AND/OR · BETWEEN · IN · NULL · LIKE · GROUP BY · DATE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8348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  <a:latin typeface="Nunito Sans"/>
              </a:rPr>
              <a:t>parch_and_posey database · self-paced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DAY 02 ·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What we cover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Filtering rows, then aggregating what's left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2286000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2286000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The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2286000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region → sales_reps → accounts → {orders, web_events}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761488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761488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761488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Quick Review + Aggregation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761488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LIMIT/OFFSET/DISTINCT/ORDER BY, then MIN/AVG/SUM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236976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236976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236976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WHERE, NOT EQUAL, AND/OR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36976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Filtering rows, combining conditions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712464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3712464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3712464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BETWEEN, IN vs 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3712464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Range filtering, cleaner multi-value matching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4187952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4187952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187952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NULL Checks, LIKE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4187952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Missing values, pattern matching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4663440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4663440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663440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GROUP BY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4663440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Aggregating per bucket instead of over everything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5138928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5138928"/>
            <a:ext cx="54864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1" i="0">
                <a:solidFill>
                  <a:srgbClr val="2F63E8"/>
                </a:solidFill>
                <a:latin typeface="IBM Plex Mono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138928"/>
            <a:ext cx="393192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DATE Functions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0" y="5138928"/>
            <a:ext cx="5943600" cy="47548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400" b="0" i="0">
                <a:solidFill>
                  <a:srgbClr val="6B6B6B"/>
                </a:solidFill>
                <a:latin typeface="Nunito Sans"/>
              </a:rPr>
              <a:t>YEAR/MONTH/DAY, DATE_FORMAT, DATE_ADD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5614416"/>
            <a:ext cx="11094415" cy="0"/>
          </a:xfrm>
          <a:prstGeom prst="line">
            <a:avLst/>
          </a:prstGeom>
          <a:ln w="9525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THE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The parch_and_posey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A chain of 1:N relationships — no JOINs needed yet, but this shape explains why account_id shows up twice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01087" y="294894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46807" y="294894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region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35727" y="294894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1447" y="294894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sales_reps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21327" y="3291840"/>
            <a:ext cx="914400" cy="0"/>
          </a:xfrm>
          <a:prstGeom prst="line">
            <a:avLst/>
          </a:prstGeom>
          <a:ln w="15875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4349343" y="2907792"/>
            <a:ext cx="256032" cy="256032"/>
          </a:xfrm>
          <a:prstGeom prst="ellipse">
            <a:avLst/>
          </a:prstGeom>
          <a:solidFill>
            <a:srgbClr val="2F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4751679" y="2907792"/>
            <a:ext cx="256032" cy="256032"/>
          </a:xfrm>
          <a:prstGeom prst="ellipse">
            <a:avLst/>
          </a:prstGeom>
          <a:solidFill>
            <a:srgbClr val="2F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0367" y="294894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6087" y="294894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accounts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55967" y="3291840"/>
            <a:ext cx="914400" cy="0"/>
          </a:xfrm>
          <a:prstGeom prst="line">
            <a:avLst/>
          </a:prstGeom>
          <a:ln w="15875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7183983" y="2907792"/>
            <a:ext cx="256032" cy="256032"/>
          </a:xfrm>
          <a:prstGeom prst="ellipse">
            <a:avLst/>
          </a:prstGeom>
          <a:solidFill>
            <a:srgbClr val="2F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7586319" y="2907792"/>
            <a:ext cx="256032" cy="256032"/>
          </a:xfrm>
          <a:prstGeom prst="ellipse">
            <a:avLst/>
          </a:prstGeom>
          <a:solidFill>
            <a:srgbClr val="2F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35927" y="466344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1647" y="4663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orders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7696047" y="3634740"/>
            <a:ext cx="1234440" cy="1028700"/>
          </a:xfrm>
          <a:prstGeom prst="line">
            <a:avLst/>
          </a:prstGeom>
          <a:ln w="1397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531455" y="4343400"/>
            <a:ext cx="237744" cy="237744"/>
          </a:xfrm>
          <a:prstGeom prst="ellipse">
            <a:avLst/>
          </a:prstGeom>
          <a:solidFill>
            <a:srgbClr val="2F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04807" y="4663440"/>
            <a:ext cx="1920240" cy="64008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0527" y="466344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web_events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30487" y="3634740"/>
            <a:ext cx="1234440" cy="1028700"/>
          </a:xfrm>
          <a:prstGeom prst="line">
            <a:avLst/>
          </a:prstGeom>
          <a:ln w="1397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000335" y="4343400"/>
            <a:ext cx="237744" cy="237744"/>
          </a:xfrm>
          <a:prstGeom prst="ellipse">
            <a:avLst/>
          </a:prstGeom>
          <a:solidFill>
            <a:srgbClr val="2F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N</a:t>
            </a:r>
          </a:p>
        </p:txBody>
      </p:sp>
      <p:sp>
        <p:nvSpPr>
          <p:cNvPr id="26" name="Oval 25"/>
          <p:cNvSpPr/>
          <p:nvPr/>
        </p:nvSpPr>
        <p:spPr>
          <a:xfrm>
            <a:off x="8802471" y="4009644"/>
            <a:ext cx="256032" cy="256032"/>
          </a:xfrm>
          <a:prstGeom prst="ellipse">
            <a:avLst/>
          </a:prstGeom>
          <a:solidFill>
            <a:srgbClr val="2F6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IBM Plex Mono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QUICK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Same syntax, new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LIMIT/OFFSET, DISTINCT, and ORDER BY work exactly like Day 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day02_filtering_and_aggregation.sql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LIMIT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2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OFFSET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10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DISTINCT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channel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web_events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ORDER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sales_rep_id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ASC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DESC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If this feels new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Revisit Day 01 first — this lesson builds on it, not re-teaches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47871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What's actually new 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67911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Everything from WHERE onward, plus aggregation beyond COUNT.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AGGREGATION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Beyond COUNT — MIN, AVG, and friends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Every aggregate collapses many rows into one number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day02_filtering_and_aggregation.sql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MIN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MinOrderTotal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AVG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AvgOrderTotal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Multiple aggregates in one query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COUNT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OrderCount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MIN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MinTotal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MAX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MaxTotal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ROUND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AVG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),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2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AvgTotal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SUM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TotalRevenue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One row out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No matter how many rows go in — that's what makes it an aggregate.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47871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Combine freely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67911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Any number of aggregates in one SELECT, each over the same row 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Filtering rows before anything else happens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Comparison operators: = &gt; &lt; &gt;= &lt;= != &lt;&gt;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day02_filtering_and_aggregation.sql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&gt;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100000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ORDER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DESC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web_events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channel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'facebook'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Evaluated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WHERE filters rows before SELECT/ORDER BY/LIMIT touch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47871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Not-equal, two ways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67911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!= and &lt;&gt; mean the same thing — != is more common in practice.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AND / 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271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Combining conditions — and why mixing them up is dangerous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4825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AND narrows the result; OR widens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day02_filtering_and_aggregation.sql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Facebook events, for account 1001 ONLY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web_events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channel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'facebook'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AND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1001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Facebook events from ANY account,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plus ANY event from account 1001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web_events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channel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'facebook'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OR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1001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AND = both must hold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Narrows the result — fewer rows match.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328416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OR = either can hold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648456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Widens the result — often far more rows than you expect.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361687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Common bug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681727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Swapping AND/OR is grammatically valid in the same spot but changes everything.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BETWEEN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Range filtering — both ends inclusive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BETWEEN 500 AND 999 means &gt;= 500 AND &lt;= 999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day02_filtering_and_aggregation.sql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Without BETWEEN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&gt;=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500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AND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&lt;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1000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Same thing, with BETWEEN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BETWEEN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500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AND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999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Works on dates too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occurred_at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BETWEEN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'2014-12-30'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AND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'2015-01-01'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Both ends inclusive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500 and 999 themselves are included in the result.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47871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Not just 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67911"/>
            <a:ext cx="3776472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Dates and timestamps work the same way.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IN VS 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1271016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IN — a cleaner way to say "equals one of these"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48256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Identical results, much easier to read past 2-3 values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day02_filtering_and_aggregation.sql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OR: gets unwieldy fast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web_events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channel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'facebook'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OR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channel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'twitter'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OR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channel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'organic'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IN: same result, one line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web_events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channel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(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'facebook'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'twitter'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'organic'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Same 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Every row that matches one OR chain also matches the equivalent IN list.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47871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NOT IN works too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67911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Excludes every value in the list instead of matching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NULL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"No value recorded" isn't 0 or ''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Ordinary = can't test for NULL — use IS NULL / IS NOT NULL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day02_filtering_and_aggregation.sql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primary_poc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IS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NULL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primary_poc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IS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NOT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NULL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WHERE primary_poc = NULL   &lt;- silently matches NOTHING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always use IS NULL / IS NOT NULL instead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Parch &amp; Posey has no NULLs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So IS NULL returns 0 rows here — the syntax is still what you'd use on messier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47871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The classic trap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67911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= NULL is valid syntax that matches nothing, silently. Always use IS NULL.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Pattern matching — % and 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% = any number of characters · _ = exactly one character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day02_filtering_and_aggregation.sql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Starts with 'A'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LIKE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'A%'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Contains 'a' anywhere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LIKE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'%a%'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'a' is the 2nd character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LIKE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'_a%'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Ends with 'ct'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web_events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channel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LIKE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'%ct'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% = wildcard run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Zero or more of any character.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328416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_ = single wildcard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648456"/>
            <a:ext cx="3776472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Exactly one character, no more, no less.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GROUP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Aggregating per bucket, not over everything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Every non-aggregated column in SELECT must appear in GROUP BY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86787" y="2651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86787" y="265176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  <a:latin typeface="IBM Plex Mono"/>
              </a:rPr>
              <a:t>direct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2667" y="2651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12667" y="265176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  <a:latin typeface="IBM Plex Mono"/>
              </a:rPr>
              <a:t>facebook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38547" y="2651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38547" y="265176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  <a:latin typeface="IBM Plex Mono"/>
              </a:rPr>
              <a:t>direct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4427" y="2651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4427" y="265176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  <a:latin typeface="IBM Plex Mono"/>
              </a:rPr>
              <a:t>twitter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0307" y="2651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0307" y="265176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  <a:latin typeface="IBM Plex Mono"/>
              </a:rPr>
              <a:t>facebook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16187" y="2651760"/>
            <a:ext cx="118872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16187" y="2651760"/>
            <a:ext cx="11887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100" b="0" i="0">
                <a:solidFill>
                  <a:srgbClr val="141414"/>
                </a:solidFill>
                <a:latin typeface="IBM Plex Mono"/>
              </a:rPr>
              <a:t>direct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81147" y="3108960"/>
            <a:ext cx="480060" cy="1005840"/>
          </a:xfrm>
          <a:prstGeom prst="line">
            <a:avLst/>
          </a:prstGeom>
          <a:ln w="1270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107027" y="3108960"/>
            <a:ext cx="1988820" cy="1005840"/>
          </a:xfrm>
          <a:prstGeom prst="line">
            <a:avLst/>
          </a:prstGeom>
          <a:ln w="1270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261207" y="3108960"/>
            <a:ext cx="2171700" cy="1005840"/>
          </a:xfrm>
          <a:prstGeom prst="line">
            <a:avLst/>
          </a:prstGeom>
          <a:ln w="1270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758787" y="3108960"/>
            <a:ext cx="2171700" cy="1005840"/>
          </a:xfrm>
          <a:prstGeom prst="line">
            <a:avLst/>
          </a:prstGeom>
          <a:ln w="1270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095847" y="3108960"/>
            <a:ext cx="1988820" cy="1005840"/>
          </a:xfrm>
          <a:prstGeom prst="line">
            <a:avLst/>
          </a:prstGeom>
          <a:ln w="1270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3261207" y="3108960"/>
            <a:ext cx="6149340" cy="1005840"/>
          </a:xfrm>
          <a:prstGeom prst="line">
            <a:avLst/>
          </a:prstGeom>
          <a:ln w="12700">
            <a:solidFill>
              <a:srgbClr val="9CA3A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072487" y="411480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18207" y="411480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direct  (×3)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07127" y="411480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52847" y="411480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facebook  (×2)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41767" y="4114800"/>
            <a:ext cx="2377440" cy="77724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2F63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87487" y="411480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41414"/>
                </a:solidFill>
                <a:latin typeface="Nunito Sans"/>
              </a:rPr>
              <a:t>twitter  (×1)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2860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Nunito Sans"/>
              </a:rPr>
              <a:t>GROUP BY channel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GROUP BY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One row per unique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GROUP BY account_id, channel = one row per account+channel combo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day02_filtering_and_aggregation.sql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channel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COUNT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(*)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Cnt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web_events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GROUP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channel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ORDER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DESC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Group by more than one column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channel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COUNT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channel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Cnt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web_events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GROUP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channel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Multiple aggregates per group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COUNT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(*)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OrderCount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AVG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AvgTotal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SUM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total_amt_usd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SumTotal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GROUP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ORDER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OrderCount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DESC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The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Non-aggregated SELECT columns must appear in GROUP BY.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47871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Multi-column groups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67911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One output row per unique combination of the grouped columns.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DATE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Pulling pieces out of a timestamp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YEAR, MONTH, DAY, DATE — three ways to get the same 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day02_filtering_and_aggregation.sql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YEAR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occurred_at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'year'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MONTH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occurred_at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'month'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DAY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occurred_at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'day'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Three equivalent ways to get the year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YEAR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occurred_at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EXTRACT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YEAR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occurred_at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DATE_FORMAT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occurred_at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'%Y'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Named month/day, not just numbers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MONTHNAME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occurred_at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DAYNAME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occurred_at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Pick one, be consistent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All three year-extraction forms return the same value.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547871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Full 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867911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See dates_specifiers.jpg in this folder for every DATE_FORMAT code.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00" b="1" i="0">
                <a:solidFill>
                  <a:srgbClr val="2F63E8"/>
                </a:solidFill>
                <a:latin typeface="IBM Plex Mono"/>
              </a:rPr>
              <a:t>DATE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515600" cy="70408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4000" b="1" i="0">
                <a:solidFill>
                  <a:srgbClr val="141414"/>
                </a:solidFill>
                <a:latin typeface="Bricolage Grotesque"/>
              </a:rPr>
              <a:t>Filtering and shifting 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700" b="0" i="0">
                <a:solidFill>
                  <a:srgbClr val="6B6B6B"/>
                </a:solidFill>
                <a:latin typeface="Nunito Sans"/>
              </a:rPr>
              <a:t>First JOIN in this course — a small preview of Day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14600"/>
            <a:ext cx="6675120" cy="402336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6700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2" y="26700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9304" y="26700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54480" y="263347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200" b="0" i="0">
                <a:solidFill>
                  <a:srgbClr val="9C9C9C"/>
                </a:solidFill>
                <a:latin typeface="IBM Plex Mono"/>
              </a:rPr>
              <a:t>day02_filtering_and_aggregation.sql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00400"/>
            <a:ext cx="6126480" cy="3200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Orders in Q1 2015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*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MONTH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occurred_at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BETWEEN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1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AND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3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AND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YEAR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occurred_at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=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2015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Walmart's gloss-paper spend by month (needs a JOIN)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DATE_FORMAT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occurred_at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'%Y-%m'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ord_date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,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     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SUM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gloss_amt_usd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tot_spent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JOIN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ON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account_id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WHERE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a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.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name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= </a:t>
            </a:r>
            <a:r>
              <a:rPr sz="1400" b="0" i="0">
                <a:solidFill>
                  <a:srgbClr val="CE9178"/>
                </a:solidFill>
                <a:latin typeface="IBM Plex Mono"/>
              </a:rPr>
              <a:t>'Walmart'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GROUP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1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ORDER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BY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2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DESC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569CD6"/>
                </a:solidFill>
                <a:latin typeface="IBM Plex Mono"/>
              </a:rPr>
              <a:t>LIMIT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1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6A9955"/>
                </a:solidFill>
                <a:latin typeface="IBM Plex Mono"/>
              </a:rPr>
              <a:t>-- Expected delivery = order date + 7 days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SELECT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DATE_ADD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DATE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(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occurred_at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),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INTERVAL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B5CEA8"/>
                </a:solidFill>
                <a:latin typeface="IBM Plex Mono"/>
              </a:rPr>
              <a:t>7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CDCAA"/>
                </a:solidFill>
                <a:latin typeface="IBM Plex Mono"/>
              </a:rPr>
              <a:t>DAY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)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569CD6"/>
                </a:solidFill>
                <a:latin typeface="IBM Plex Mono"/>
              </a:rPr>
              <a:t>FROM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 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orders</a:t>
            </a:r>
            <a:r>
              <a:rPr sz="1400" b="0" i="0">
                <a:solidFill>
                  <a:srgbClr val="D4D4D4"/>
                </a:solidFill>
                <a:latin typeface="IBM Plex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514600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Don't worry about JOIN yet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834640"/>
            <a:ext cx="3776472" cy="29260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One example here, taught properly on Day 03.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328416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DATE_ADD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648456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Shifts a date forward (or back, with a negative interval).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361687"/>
            <a:ext cx="3776472" cy="3200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600" b="1" i="0">
                <a:solidFill>
                  <a:srgbClr val="141414"/>
                </a:solidFill>
                <a:latin typeface="Nunito Sans"/>
              </a:rPr>
              <a:t>CURDATE() / NOW()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681727"/>
            <a:ext cx="3776472" cy="512063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r>
              <a:rPr sz="1350" b="0" i="0">
                <a:solidFill>
                  <a:srgbClr val="6B6B6B"/>
                </a:solidFill>
                <a:latin typeface="Nunito Sans"/>
              </a:rPr>
              <a:t>Today's date, and the current date+time — for "right now" logic.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100" b="0" i="0">
                <a:solidFill>
                  <a:srgbClr val="9CA3AF"/>
                </a:solidFill>
                <a:latin typeface="IBM Plex Mono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926080"/>
            <a:ext cx="12191695" cy="36576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500" b="1" i="0">
                <a:solidFill>
                  <a:srgbClr val="2F63E8"/>
                </a:solidFill>
                <a:latin typeface="IBM Plex Mono"/>
              </a:rPr>
              <a:t>NEXT: DAY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383280"/>
            <a:ext cx="11277295" cy="10058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4600" b="1" i="0">
                <a:solidFill>
                  <a:srgbClr val="141414"/>
                </a:solidFill>
                <a:latin typeface="Bricolage Grotesque"/>
              </a:rPr>
              <a:t>JOINs +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43400"/>
            <a:ext cx="9448495" cy="54864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6B6B6B"/>
                </a:solidFill>
                <a:latin typeface="Nunito Sans"/>
              </a:rPr>
              <a:t>Bringing sales_reps, accounts, orders, and web_events together — plus your first CASE statements.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